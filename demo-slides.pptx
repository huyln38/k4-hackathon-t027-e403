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554480"/>
            <a:ext cx="4206240" cy="4206240"/>
          </a:xfrm>
          <a:prstGeom prst="ellipse">
            <a:avLst/>
          </a:prstGeom>
          <a:ln w="12700">
            <a:solidFill>
              <a:srgbClr val="B08D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-731520"/>
            <a:ext cx="2560320" cy="2560320"/>
          </a:xfrm>
          <a:prstGeom prst="ellipse">
            <a:avLst/>
          </a:prstGeom>
          <a:ln w="12700">
            <a:solidFill>
              <a:srgbClr val="A627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37160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0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HACKATHON AI · BATCH 03 · ZONE LÀN MỞ (HƯỚNG C)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82880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Hệ thống chuyên cần</a:t>
            </a:r>
            <a:endParaRPr lang="en-US" sz="4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đáng tin cho lớp học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66928" y="3886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9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Chặn điểm danh hộ  ·  Phát hiện sớm học viên có nguy cơ rời lớp  ·  Nhắc đúng lúc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66928" y="4709160"/>
            <a:ext cx="3840480" cy="0"/>
          </a:xfrm>
          <a:prstGeom prst="line">
            <a:avLst/>
          </a:prstGeom>
          <a:noFill/>
          <a:ln w="19050">
            <a:solidFill>
              <a:srgbClr val="B08D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T027   </a:t>
            </a:r>
            <a:pPr indent="0" marL="0">
              <a:buNone/>
            </a:pPr>
            <a:r>
              <a:rPr lang="en-US" sz="1500" dirty="0">
                <a:solidFill>
                  <a:srgbClr val="C9B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Hiệp · Huy · An · Cường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66928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E82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chạy local trong LAN lớp học — không dịch vụ ngoài, không API key, dữ liệu học viên không rời máy.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B0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USER &amp; JOB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3E1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— đang làm gì — vướng ở đâu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577840" cy="1828800"/>
          </a:xfrm>
          <a:prstGeom prst="roundRect">
            <a:avLst>
              <a:gd name="adj" fmla="val 4000"/>
            </a:avLst>
          </a:prstGeom>
          <a:solidFill>
            <a:srgbClr val="FBF6EE"/>
          </a:solidFill>
          <a:ln w="12700">
            <a:solidFill>
              <a:srgbClr val="E4D9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20116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b="1" spc="200" kern="0" dirty="0">
                <a:solidFill>
                  <a:srgbClr val="A62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
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 / Labcoach phụ trách một lớp đông (100–200 học viên).
</a:t>
            </a:r>
            <a:pPr indent="0" marL="0">
              <a:lnSpc>
                <a:spcPts val="1700"/>
              </a:lnSpc>
              <a:buNone/>
            </a:pPr>
            <a:r>
              <a:rPr lang="en-US" sz="1100" b="1" spc="200" kern="0" dirty="0">
                <a:solidFill>
                  <a:srgbClr val="A62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VIỆC (JTBD)
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định chính xác ai thực sự có mặt học, và phát hiện kịp thời học viên đang gặp khó để giữ chân trước khi quá trễ.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384048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D9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3977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MA SÁT TÁCH BIỆT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95528" y="4279392"/>
            <a:ext cx="5120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3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Số liệu không đáng tin —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danh hộ, ghi nhận có mặt rồi rời lớp; giảng viên biết nhưng không xác minh được ở quy mô lớp đông.
</a:t>
            </a:r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3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Số liệu không ai đọc kịp lúc —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đếm tổng vắng vào cuối khóa, đúng lúc không còn can thiệp được. Chuỗi đi muộn tăng dần rồi im lặng không ai thấy khi nó đang diễn ra.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46520" y="1828800"/>
            <a:ext cx="51663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4D9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938528"/>
            <a:ext cx="21031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A627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22,7%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732520" y="1938528"/>
            <a:ext cx="2743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từng điểm danh hộ / được người khác điểm danh hộ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46520" y="3264408"/>
            <a:ext cx="51663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4D9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3374136"/>
            <a:ext cx="21031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18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19,4%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732520" y="3374136"/>
            <a:ext cx="2743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từng ghi nhận có mặt rồi rời lớp trước khi kết thúc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46520" y="4700016"/>
            <a:ext cx="51663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4D9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4809744"/>
            <a:ext cx="21031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5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11,5%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732520" y="4809744"/>
            <a:ext cx="2743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từng có giai đoạn muốn bỏ mà không ai chủ động hỏi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46520" y="615391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5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khảo sát n = 25 học viên ngoài team · validation/survey_log.csv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T027 · Chuyên cần đáng tin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B0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VÌ SAO CHỌN TÍNH NĂNG NÀY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3E1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 cơ hội đã cân — chọn cái hậu quả nặng nhất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57839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4D9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21408"/>
            <a:ext cx="493776" cy="493776"/>
          </a:xfrm>
          <a:prstGeom prst="ellipse">
            <a:avLst/>
          </a:prstGeom>
          <a:solidFill>
            <a:srgbClr val="A6273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214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27048" y="192938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Rút ngắn thời gian điểm danh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27048" y="244144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5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 · mỗi buổi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562088" y="1929384"/>
            <a:ext cx="2788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Tiết kiệm vài phút, giá trị thấp, đã có nhiều lời giải sẵn.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750247" y="1929384"/>
            <a:ext cx="1691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5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3099816"/>
            <a:ext cx="11057839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4D9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438144"/>
            <a:ext cx="493776" cy="493776"/>
          </a:xfrm>
          <a:prstGeom prst="ellipse">
            <a:avLst/>
          </a:prstGeom>
          <a:solidFill>
            <a:srgbClr val="A6273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4381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27048" y="32461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Chặn điểm danh hộ — 4 lớp xác thực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27048" y="375818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5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 + HV · mỗi buổi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562088" y="3246120"/>
            <a:ext cx="2788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nó thì dữ liệu vô nghĩa — nhưng bản thân là hạ tầng, chưa phải sản phẩm.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750247" y="3246120"/>
            <a:ext cx="1691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0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KIỆN CẦN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4416552"/>
            <a:ext cx="11057839" cy="1170432"/>
          </a:xfrm>
          <a:prstGeom prst="roundRect">
            <a:avLst>
              <a:gd name="adj" fmla="val 5469"/>
            </a:avLst>
          </a:prstGeom>
          <a:solidFill>
            <a:srgbClr val="FBEDEF"/>
          </a:solidFill>
          <a:ln w="22225">
            <a:solidFill>
              <a:srgbClr val="A627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754880"/>
            <a:ext cx="493776" cy="493776"/>
          </a:xfrm>
          <a:prstGeom prst="ellipse">
            <a:avLst/>
          </a:prstGeom>
          <a:solidFill>
            <a:srgbClr val="A6273C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7548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27048" y="456285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nguy cơ drop + soạn tin nhắn cá nhân hóa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27048" y="50749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5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 nguy cơ + GV · hàng ngày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562088" y="4562856"/>
            <a:ext cx="2788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Hậu quả nặng nhất, hiện chưa có quy trình nào xử lý. Đây là sản phẩm.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750247" y="4562856"/>
            <a:ext cx="1691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62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6928" y="5751576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62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luận:  </a:t>
            </a:r>
            <a:pPr indent="0" marL="0">
              <a:buNone/>
            </a:pPr>
            <a:r>
              <a:rPr lang="en-US" sz="13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build cả B (hạ tầng chống gian lận) nhưng pitch C (sản phẩm giữ chân học viên).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T027 · Chuyên cần đáng tin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B0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GIẢI PHÁP &amp; DEMO LIVE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3E1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Một lát cắt — bấm được trong 5 phút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11057839" cy="932688"/>
          </a:xfrm>
          <a:prstGeom prst="roundRect">
            <a:avLst>
              <a:gd name="adj" fmla="val 7843"/>
            </a:avLst>
          </a:prstGeom>
          <a:solidFill>
            <a:srgbClr val="3E1A2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10554919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B0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LÁT CẮT (1 câu):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 · xem bản tin đầu ngày · mô hình đọc chuỗi hành vi của ca đã bị rule đánh dấu → soạn chẩn đoán + tin nhắn cá nhân hóa · ra danh sách ≤ 5 người kèm tin bấm-gửi-được.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852928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FBF6EE"/>
          </a:solidFill>
          <a:ln w="12700">
            <a:solidFill>
              <a:srgbClr val="E4D9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852928"/>
            <a:ext cx="105549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A62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— Conditional (cost-of-error cao):  </a:t>
            </a:r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deterministic quyết định mức rủi ro; AI chỉ soạn chữ; giảng viên bắt buộc duyệt trước khi gửi. Mô hình không bao giờ là nguồn sự thật, không có quyền ghi database.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3730752"/>
            <a:ext cx="5440680" cy="239572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9050">
            <a:solidFill>
              <a:srgbClr val="3E7D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386791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E7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CASE CHUẨN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41248" y="4233672"/>
            <a:ext cx="493776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QR (xoay 20s) trên máy chiếu → tên hiện trực tiếp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Gọi lượt 2 → đóng buổi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tin đầu ngày: 5 ca ưu tiên + khối “Vì sao”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“Sinh bằng mô hình” → chẩn đoán + tin nhắn nháp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Chỉnh 1 chữ → đánh dấu đã liên hệ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3730752"/>
            <a:ext cx="5440680" cy="239572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9050">
            <a:solidFill>
              <a:srgbClr val="A627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386791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62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CASE CHỖ KHÓ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37960" y="4233672"/>
            <a:ext cx="493776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Mượn máy đã buộc cho người khác → DEVICE_REUSE chặn TRƯỚC khi ghi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mặt đầu giờ, vắng lượt 2 → gắn flag EARLY_DEPARTURE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Tắt Ollama → dashboard vẫn hiện mức rủi ro + rule_trace, chỉ thiếu phần diễn giải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3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lỗi được xử lý — không giấu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T027 · Chuyên cần đáng tin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B0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KẾT QUẢ ĐO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3E1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Đối chiếu quality bar đã chốt 23:59 N1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57839" cy="566928"/>
          </a:xfrm>
          <a:prstGeom prst="roundRect">
            <a:avLst>
              <a:gd name="adj" fmla="val 9677"/>
            </a:avLst>
          </a:prstGeom>
          <a:solidFill>
            <a:srgbClr val="FBF6EE"/>
          </a:solidFill>
          <a:ln w="12700">
            <a:solidFill>
              <a:srgbClr val="B08D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105549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BAR (chốt, không đổi):  </a:t>
            </a:r>
            <a:pPr indent="0" marL="0">
              <a:buNone/>
            </a:pPr>
            <a:r>
              <a:rPr lang="en-US" sz="12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85% qua golden set chạy 3 lượt  ·  100% không vi phạm message_must_not  ·  latency ≤ 8s/ca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24871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5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TIÊU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90288" y="24871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85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NGƯỠNG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79008" y="24871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5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ĐƯỢC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2816352"/>
            <a:ext cx="7132320" cy="0"/>
          </a:xfrm>
          <a:prstGeom prst="line">
            <a:avLst/>
          </a:prstGeom>
          <a:noFill/>
          <a:ln w="9525">
            <a:solidFill>
              <a:srgbClr val="E4D9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8803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rủi ro khớp nhãn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90288" y="2880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5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100%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779008" y="2880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 (20/20 × 3 lượt, độ lệch 0)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383280"/>
            <a:ext cx="7132320" cy="0"/>
          </a:xfrm>
          <a:prstGeom prst="line">
            <a:avLst/>
          </a:prstGeom>
          <a:noFill/>
          <a:ln w="9525">
            <a:solidFill>
              <a:srgbClr val="E4D9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4472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Chẩn đoán nêu đúng tín hiệu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90288" y="34472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5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80%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779008" y="34472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 (22/22 ca)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3950208"/>
            <a:ext cx="7132320" cy="0"/>
          </a:xfrm>
          <a:prstGeom prst="line">
            <a:avLst/>
          </a:prstGeom>
          <a:noFill/>
          <a:ln w="9525">
            <a:solidFill>
              <a:srgbClr val="E4D9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401421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 nhắn qua hết message_must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90288" y="401421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5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85%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779008" y="401421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 (22/22 ca)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4517136"/>
            <a:ext cx="7132320" cy="0"/>
          </a:xfrm>
          <a:prstGeom prst="line">
            <a:avLst/>
          </a:prstGeom>
          <a:noFill/>
          <a:ln w="9525">
            <a:solidFill>
              <a:srgbClr val="E4D9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58114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bịa thông tin ngoài log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90288" y="458114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5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100%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779008" y="45811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 (22/22 ca)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5084064"/>
            <a:ext cx="7132320" cy="0"/>
          </a:xfrm>
          <a:prstGeom prst="line">
            <a:avLst/>
          </a:prstGeom>
          <a:noFill/>
          <a:ln w="9525">
            <a:solidFill>
              <a:srgbClr val="E4D9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51480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mỗi ca (p95)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90288" y="514807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5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8s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779008" y="51480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4,2s  (trung bình 2,6s)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6928" y="569671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 test đạt · golden set 20 ca (6 ok / 6 watch / 8 at_risk) · gemma3:4b chạy local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19288" y="2487168"/>
            <a:ext cx="3605479" cy="3566160"/>
          </a:xfrm>
          <a:prstGeom prst="roundRect">
            <a:avLst>
              <a:gd name="adj" fmla="val 2051"/>
            </a:avLst>
          </a:prstGeom>
          <a:solidFill>
            <a:srgbClr val="FBEDEF"/>
          </a:solidFill>
          <a:ln w="15875">
            <a:solidFill>
              <a:srgbClr val="A627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2633472"/>
            <a:ext cx="31482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62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ĐÁNG KỂ NHẤT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247888" y="2962656"/>
            <a:ext cx="3148279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3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4B bịa số &amp; sai ngày.
</a:t>
            </a:r>
            <a:endParaRPr lang="en-US" sz="13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lần bịa quan sát được đều do bảng dữ kiện để hở một chỗ.
</a:t>
            </a:r>
            <a:endParaRPr lang="en-US" sz="13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A62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chữa — bằng code, không bằng hy vọng:
</a:t>
            </a:r>
            <a:endParaRPr lang="en-US" sz="13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Bịt các chỗ hở trong bảng dữ kiện (llm._facts) → hết bịa
</a:t>
            </a:r>
            <a:endParaRPr lang="en-US" sz="13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Phép cộng/trừ ngày do code tính; llm._weekday_mismatches() đối chiếu lại lịch và cảnh báo, không tự sửa
</a:t>
            </a:r>
            <a:endParaRPr lang="en-US" sz="13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Đổi qwen3:8b → gemma3:4b để đạt ngưỡng latency (10–15s → 2,6s)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T027 · Chuyên cần đáng tin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B0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USER THẬT NÓI GÌ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3E1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Tiếng nói từ khảo sát &amp; vòng validation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766560" cy="1417320"/>
          </a:xfrm>
          <a:prstGeom prst="roundRect">
            <a:avLst>
              <a:gd name="adj" fmla="val 5161"/>
            </a:avLst>
          </a:prstGeom>
          <a:solidFill>
            <a:srgbClr val="FBF6EE"/>
          </a:solidFill>
          <a:ln w="12700">
            <a:solidFill>
              <a:srgbClr val="E4D9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2821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08D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225296" y="1929384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i="1" dirty="0">
                <a:solidFill>
                  <a:srgbClr val="3E1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Nhiều hôm em bận không đến lớp, nhờ bạn gửi link form điểm danh hộ vẫn được tính đủ buổi.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225296" y="28163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62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Khảo sát ẩn danh — pain ①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3355848"/>
            <a:ext cx="6766560" cy="1417320"/>
          </a:xfrm>
          <a:prstGeom prst="roundRect">
            <a:avLst>
              <a:gd name="adj" fmla="val 5161"/>
            </a:avLst>
          </a:prstGeom>
          <a:solidFill>
            <a:srgbClr val="FBF6EE"/>
          </a:solidFill>
          <a:ln w="12700">
            <a:solidFill>
              <a:srgbClr val="E4D9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330098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08D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225296" y="3502152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i="1" dirty="0">
                <a:solidFill>
                  <a:srgbClr val="3E1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nghỉ 2 buổi liên tiếp… đến buổi thứ 3 đi muộn thì thấy nản, nghĩ đằng nào cũng sắp cấm thi mà chẳng thấy ai hỏi lý do.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225296" y="43891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62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Khảo sát ẩn danh — pain ②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607808" y="1783080"/>
            <a:ext cx="4016959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B08D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36408" y="1901952"/>
            <a:ext cx="35597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VÒNG VALIDATION (CP5)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836408" y="2194560"/>
            <a:ext cx="355975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3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hoạch: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 người thử (≥ 1 giảng viên) · phiên 10′ · 3 câu hỏi: khó chịu nhất? tin kết quả không? có dùng thật không?
</a:t>
            </a:r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A62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Điền ≥ 2 quote nguyên văn + tên/vai sau khi chạy CP5 ]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607808" y="3355848"/>
            <a:ext cx="4016959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4D9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36408" y="3474720"/>
            <a:ext cx="35597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62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ĐỔI ĐÃ LÀM TỪ PHẢN HỒI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82128" y="3922776"/>
            <a:ext cx="82296" cy="82296"/>
          </a:xfrm>
          <a:prstGeom prst="ellipse">
            <a:avLst/>
          </a:prstGeom>
          <a:solidFill>
            <a:srgbClr val="A6273C"/>
          </a:solidFill>
          <a:ln/>
        </p:spPr>
      </p:sp>
      <p:sp>
        <p:nvSpPr>
          <p:cNvPr id="18" name="Text 16"/>
          <p:cNvSpPr/>
          <p:nvPr/>
        </p:nvSpPr>
        <p:spPr>
          <a:xfrm>
            <a:off x="8083296" y="3822192"/>
            <a:ext cx="33037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Nhãn flag mô tả việc đã xảy ra, không phải kết cục bị ngăn (DEVICE_REUSE)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882128" y="4489704"/>
            <a:ext cx="82296" cy="82296"/>
          </a:xfrm>
          <a:prstGeom prst="ellipse">
            <a:avLst/>
          </a:prstGeom>
          <a:solidFill>
            <a:srgbClr val="A6273C"/>
          </a:solidFill>
          <a:ln/>
        </p:spPr>
      </p:sp>
      <p:sp>
        <p:nvSpPr>
          <p:cNvPr id="20" name="Text 18"/>
          <p:cNvSpPr/>
          <p:nvPr/>
        </p:nvSpPr>
        <p:spPr>
          <a:xfrm>
            <a:off x="8083296" y="4389120"/>
            <a:ext cx="33037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Gộp flag theo học viên kèm số lần — xử lý cả nhóm 1 lần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882128" y="5056632"/>
            <a:ext cx="82296" cy="82296"/>
          </a:xfrm>
          <a:prstGeom prst="ellipse">
            <a:avLst/>
          </a:prstGeom>
          <a:solidFill>
            <a:srgbClr val="A6273C"/>
          </a:solidFill>
          <a:ln/>
        </p:spPr>
      </p:sp>
      <p:sp>
        <p:nvSpPr>
          <p:cNvPr id="22" name="Text 20"/>
          <p:cNvSpPr/>
          <p:nvPr/>
        </p:nvSpPr>
        <p:spPr>
          <a:xfrm>
            <a:off x="8083296" y="4956048"/>
            <a:ext cx="33037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buổi 2, máy tự nhận chủ — học viên chỉ quét, không gõ mã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882128" y="5623560"/>
            <a:ext cx="82296" cy="82296"/>
          </a:xfrm>
          <a:prstGeom prst="ellipse">
            <a:avLst/>
          </a:prstGeom>
          <a:solidFill>
            <a:srgbClr val="A6273C"/>
          </a:solidFill>
          <a:ln/>
        </p:spPr>
      </p:sp>
      <p:sp>
        <p:nvSpPr>
          <p:cNvPr id="24" name="Text 22"/>
          <p:cNvSpPr/>
          <p:nvPr/>
        </p:nvSpPr>
        <p:spPr>
          <a:xfrm>
            <a:off x="8083296" y="5522976"/>
            <a:ext cx="33037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sàn “muộn thật ≥ 10′” cho chuỗi trễ tăng dần — bỏ 11 ca watch oan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T027 · Chuyên cần đáng tin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527487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E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206240" cy="4206240"/>
          </a:xfrm>
          <a:prstGeom prst="ellipse">
            <a:avLst/>
          </a:prstGeom>
          <a:ln w="12700">
            <a:solidFill>
              <a:srgbClr val="5B2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4008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08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NẾU CÓ THÊM 1 TUẦN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00584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 việc ưu tiên — trỏ về failure &amp; feedback chưa xử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3472586" cy="2514600"/>
          </a:xfrm>
          <a:prstGeom prst="roundRect">
            <a:avLst>
              <a:gd name="adj" fmla="val 3273"/>
            </a:avLst>
          </a:prstGeom>
          <a:solidFill>
            <a:srgbClr val="4A2130"/>
          </a:solidFill>
          <a:ln w="12700">
            <a:solidFill>
              <a:srgbClr val="5B2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240280"/>
            <a:ext cx="548640" cy="548640"/>
          </a:xfrm>
          <a:prstGeom prst="ellipse">
            <a:avLst/>
          </a:prstGeom>
          <a:solidFill>
            <a:srgbClr val="A6273C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2926080"/>
            <a:ext cx="292394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Bịt lỗ “hai cửa sổ ẩn danh / một máy”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3703320"/>
            <a:ext cx="292394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8C4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 chỉ phát hiện (FINGERPRINT_MATCH), chưa chặn — lỗ hở còn lại của lớp 3.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59554" y="1965960"/>
            <a:ext cx="3472586" cy="2514600"/>
          </a:xfrm>
          <a:prstGeom prst="roundRect">
            <a:avLst>
              <a:gd name="adj" fmla="val 3273"/>
            </a:avLst>
          </a:prstGeom>
          <a:solidFill>
            <a:srgbClr val="4A2130"/>
          </a:solidFill>
          <a:ln w="12700">
            <a:solidFill>
              <a:srgbClr val="5B2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33874" y="2240280"/>
            <a:ext cx="548640" cy="548640"/>
          </a:xfrm>
          <a:prstGeom prst="ellipse">
            <a:avLst/>
          </a:prstGeom>
          <a:solidFill>
            <a:srgbClr val="A6273C"/>
          </a:solidFill>
          <a:ln/>
        </p:spPr>
      </p:sp>
      <p:sp>
        <p:nvSpPr>
          <p:cNvPr id="12" name="Text 10"/>
          <p:cNvSpPr/>
          <p:nvPr/>
        </p:nvSpPr>
        <p:spPr>
          <a:xfrm>
            <a:off x="4633874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33874" y="2926080"/>
            <a:ext cx="292394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kênh gửi tin nhắn thật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33874" y="3703320"/>
            <a:ext cx="292394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8C4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Nút “đã liên hệ” hiện chỉ ghi trạng thái; cần kênh gửi có người duyệt bắt buộc.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52181" y="1965960"/>
            <a:ext cx="3472586" cy="2514600"/>
          </a:xfrm>
          <a:prstGeom prst="roundRect">
            <a:avLst>
              <a:gd name="adj" fmla="val 3273"/>
            </a:avLst>
          </a:prstGeom>
          <a:solidFill>
            <a:srgbClr val="4A2130"/>
          </a:solidFill>
          <a:ln w="12700">
            <a:solidFill>
              <a:srgbClr val="5B2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26501" y="2240280"/>
            <a:ext cx="548640" cy="548640"/>
          </a:xfrm>
          <a:prstGeom prst="ellipse">
            <a:avLst/>
          </a:prstGeom>
          <a:solidFill>
            <a:srgbClr val="A6273C"/>
          </a:solidFill>
          <a:ln/>
        </p:spPr>
      </p:sp>
      <p:sp>
        <p:nvSpPr>
          <p:cNvPr id="17" name="Text 15"/>
          <p:cNvSpPr/>
          <p:nvPr/>
        </p:nvSpPr>
        <p:spPr>
          <a:xfrm>
            <a:off x="8426501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26501" y="2926080"/>
            <a:ext cx="292394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tất vòng validation CP5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26501" y="3703320"/>
            <a:ext cx="292394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8C4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 giảng viên thật thử prototype, log phản hồi + changelog trước demo.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709160"/>
            <a:ext cx="11057839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886968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62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HỌC LỚN NHẤT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6968" y="5138928"/>
            <a:ext cx="104177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3E1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không phải danh tính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chuyển tải sang QR xoay vòng + device binding. Và ranh giới “AI không phải nguồn sự thật” được giữ ở </a:t>
            </a:r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A62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code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A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(llm.py không nhận tham số conn, không có đường ghi database), chứ không chỉ ở quy ước.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thống chuyên cần đáng tin cho lớp học</dc:title>
  <dc:subject>PptxGenJS Presentation</dc:subject>
  <dc:creator>Nhóm T027</dc:creator>
  <cp:lastModifiedBy>Nhóm T027</cp:lastModifiedBy>
  <cp:revision>1</cp:revision>
  <dcterms:created xsi:type="dcterms:W3CDTF">2026-07-31T06:38:55Z</dcterms:created>
  <dcterms:modified xsi:type="dcterms:W3CDTF">2026-07-31T06:38:55Z</dcterms:modified>
</cp:coreProperties>
</file>